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1" r:id="rId4"/>
    <p:sldId id="263" r:id="rId5"/>
    <p:sldId id="258" r:id="rId6"/>
    <p:sldId id="259" r:id="rId7"/>
    <p:sldId id="262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4668B13B-5793-401D-BA24-3D678043905C}">
          <p14:sldIdLst>
            <p14:sldId id="256"/>
            <p14:sldId id="257"/>
            <p14:sldId id="261"/>
            <p14:sldId id="263"/>
            <p14:sldId id="258"/>
            <p14:sldId id="259"/>
            <p14:sldId id="262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C694C2-FCF5-4934-BD87-C52A55B90D8A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A91E3C-A3F5-468C-B92B-3284963D6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744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2BD1-3C1B-378B-EBCE-2C68797DBC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13C82A-C180-B9A7-D3DF-7A51EE2C88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5EFBC-6DE1-BCDF-1549-36948A18E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02-05-2026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F6958-0A9F-49EB-FBAE-EC01B50BC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Rithin Vishwas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41219-3DAC-2195-B549-F33098065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E002D-2833-47CC-AA7B-9E8F0BDD0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703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1C0AF-E0A3-4225-21F3-7277DFB62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58A8A-C6F4-578C-3964-0EED0CB6B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B473C-EBD5-FE17-E30A-3D98643D6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02-05-2026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8CBAF-51F8-3D7C-E2D9-30AC8ADB8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Rithin Vishwas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27172-8DD2-7CDB-7B75-EFD6047AA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E002D-2833-47CC-AA7B-9E8F0BDD0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427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50AFF-B7F6-AA55-685E-F89A42C1D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4C993-BB16-FA8F-F440-081F86425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1EAC4-8B52-33C1-AF46-FE22EFD44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02-05-2026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EBEF4-2FB9-CF5A-B704-8138BA98E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Rithin Vishwas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BD4B1-0587-0661-CA5B-70F484599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E002D-2833-47CC-AA7B-9E8F0BDD0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739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F2E8B-481E-A67E-F642-79355DE05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8B766-7603-DCF3-022E-74410AEDAF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0CA31F-644D-203B-BA94-71084F8001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C836B6-F30F-6B59-A2B8-AA7C28029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02-05-2026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F3D569-6C24-A6D5-D130-EF9123C1F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Rithin Vishwas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8CA477-9241-706D-B6E3-088E04B48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E002D-2833-47CC-AA7B-9E8F0BDD0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154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2AC28-954D-1A6E-7C2B-5B5773343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98F53-DD58-8200-D221-1873BE43C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AC8498-71D0-41DD-F7AA-DCAC1BA36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57CD17-7E83-1270-DF0B-007C353BA5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28F9D3-9C27-0131-6F45-626FC527B0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20BC49-0D85-B3B6-AD8D-3683AD63A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02-05-2026</a:t>
            </a:r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AF2B59-864C-5D4F-4459-77531F835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Rithin Vishwas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E6CF84-C14E-836C-1939-0DAD0BB0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E002D-2833-47CC-AA7B-9E8F0BDD0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475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F68A6-F51A-98B2-76E5-2D19CE845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D07D63-396C-CA9D-843C-15F94E6B7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02-05-2026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44814E-F848-A2A2-A47F-A5E977B13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Rithin Vishwas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01644E-03A0-E884-818D-6896E6BE9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E002D-2833-47CC-AA7B-9E8F0BDD0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232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AEA8C8-2DED-47C9-704B-673F9A503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02-05-2026</a:t>
            </a:r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5B9A54-8C8D-6F4C-A8DD-4512B0F17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Rithin Vishwas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31BAF-0118-963F-813C-B4D826A28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E002D-2833-47CC-AA7B-9E8F0BDD0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73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DA956-ECAB-C937-E37C-BC24E81F7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ABD2E-6660-1F91-25A3-F1C708FD7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239C34-98D1-59E1-B971-FC7399171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547FB8-E8D0-C5FC-0791-3531E4B18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02-05-2026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6C45A-5625-F67D-A9E3-5BB057F26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Rithin Vishwas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92979A-133B-7C04-20FE-A1B2E72BE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E002D-2833-47CC-AA7B-9E8F0BDD0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896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3BF73-0CA8-BA4B-1CCD-81B8CEF3D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1CC31F-B12E-373A-3C6D-37A40E69AC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2EAD02-8C8A-99A0-EBF5-E809F40D7A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97FE6-A909-5FF7-0628-E14F37DF6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02-05-2026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CD7252-E05C-DB7D-6434-93DB80946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Rithin Vishwas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95A6BB-7FF4-A53B-51F3-4FAE9431B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E002D-2833-47CC-AA7B-9E8F0BDD0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375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1737E-B524-E37D-551D-3CE722A82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8D3BC1-BC58-88A3-CCD5-8D47092BED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83132-E035-0016-3728-560BE3420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02-05-2026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C531C-56F1-DB95-948E-78C0E3E6F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Rithin Vishwas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C4165-6462-B0FF-29A5-44B91E7D9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E002D-2833-47CC-AA7B-9E8F0BDD0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120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2EF258-CE48-317A-C0F5-90DBEE8B80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1E3C25-23F9-6E01-7F1F-B794A0CE1C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D00F4-3393-2DB1-E13C-17C2F2136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02-05-2026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8ACF8-2DD9-8B09-6317-3EF9BFA58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Rithin Vishwas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630DD-B228-E508-B9AB-FDD530D2B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E002D-2833-47CC-AA7B-9E8F0BDD0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789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B3988A-412B-2052-1A36-7B0A9A719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E45715-A3B1-02B8-03C5-E235ADF93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422B2-E5F5-EEE0-CD93-3C591DCD2D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02-05-2026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F8BCF-0BBE-BB97-D6F2-FA01C9375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Rithin Vishwas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0DBAD-2022-D431-ED14-966DEE219C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5E002D-2833-47CC-AA7B-9E8F0BDD0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6029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345F9-639D-3B8B-A10E-9C4018C425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79447"/>
            <a:ext cx="9144000" cy="2387600"/>
          </a:xfrm>
        </p:spPr>
        <p:txBody>
          <a:bodyPr>
            <a:normAutofit fontScale="90000"/>
          </a:bodyPr>
          <a:lstStyle/>
          <a:p>
            <a:br>
              <a:rPr lang="en-IN" sz="3600" dirty="0"/>
            </a:br>
            <a:br>
              <a:rPr lang="en-IN" sz="3600" dirty="0"/>
            </a:br>
            <a:r>
              <a:rPr lang="en-IN" sz="4900" dirty="0"/>
              <a:t>MS SQL Functions and Procedures </a:t>
            </a:r>
            <a:br>
              <a:rPr lang="en-IN" sz="4900" dirty="0"/>
            </a:br>
            <a:br>
              <a:rPr lang="en-IN" sz="4900" dirty="0"/>
            </a:br>
            <a:r>
              <a:rPr lang="en-IN" sz="4900" dirty="0"/>
              <a:t>Wipro NGA </a:t>
            </a:r>
            <a:br>
              <a:rPr lang="en-IN" sz="4900" dirty="0"/>
            </a:br>
            <a:r>
              <a:rPr lang="en-IN" sz="4900" dirty="0"/>
              <a:t>DAY - 15</a:t>
            </a:r>
            <a:br>
              <a:rPr lang="en-IN" sz="4900" dirty="0"/>
            </a:br>
            <a:br>
              <a:rPr lang="en-IN" sz="3600" dirty="0"/>
            </a:br>
            <a:endParaRPr lang="en-IN" sz="3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200D4-ABCE-415D-839C-D63BE6006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02-05-2026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6D36E-2C24-9101-5BD1-05E900AF4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Rithin Vishwas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DB4C0-1E83-B8B5-A35C-75A4CA99B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E002D-2833-47CC-AA7B-9E8F0BDD08F8}" type="slidenum">
              <a:rPr lang="en-IN" smtClean="0"/>
              <a:t>1</a:t>
            </a:fld>
            <a:endParaRPr lang="en-IN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C617B02C-4043-1A2B-B188-844DF159AC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388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7D22B-D2AD-09C6-7313-3048038EF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FAA75-8C15-B9D6-397D-3BB2B78CB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837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 </a:t>
            </a:r>
            <a:r>
              <a:rPr lang="en-US" sz="2400" b="1" dirty="0"/>
              <a:t>function</a:t>
            </a:r>
            <a:r>
              <a:rPr lang="en-US" sz="2400" dirty="0"/>
              <a:t> is a reusable SQL block that:</a:t>
            </a:r>
          </a:p>
          <a:p>
            <a:pPr lvl="1"/>
            <a:r>
              <a:rPr lang="en-US" dirty="0"/>
              <a:t>Takes input parameters </a:t>
            </a:r>
          </a:p>
          <a:p>
            <a:pPr lvl="1"/>
            <a:r>
              <a:rPr lang="en-US" dirty="0"/>
              <a:t>Performs logic </a:t>
            </a:r>
          </a:p>
          <a:p>
            <a:pPr lvl="1"/>
            <a:r>
              <a:rPr lang="en-US" b="1" dirty="0"/>
              <a:t>Returns a value or a table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Does NOT modify database data</a:t>
            </a:r>
          </a:p>
          <a:p>
            <a:pPr marL="457200" lvl="1" indent="0">
              <a:buNone/>
            </a:pPr>
            <a:endParaRPr lang="en-US" sz="1200" dirty="0"/>
          </a:p>
          <a:p>
            <a:pPr marL="457200" lvl="1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2400" b="1" dirty="0"/>
              <a:t>Why Functions ?</a:t>
            </a:r>
          </a:p>
          <a:p>
            <a:r>
              <a:rPr lang="en-US" sz="2400" b="1" dirty="0"/>
              <a:t>Code reusability: </a:t>
            </a:r>
            <a:r>
              <a:rPr lang="en-US" sz="2400" dirty="0"/>
              <a:t>Write Once and use multiple times.</a:t>
            </a:r>
          </a:p>
          <a:p>
            <a:r>
              <a:rPr lang="en-US" sz="2400" b="1" dirty="0"/>
              <a:t>Cleaner logic : </a:t>
            </a:r>
            <a:r>
              <a:rPr lang="en-US" sz="2400" dirty="0" err="1"/>
              <a:t>INstead</a:t>
            </a:r>
            <a:r>
              <a:rPr lang="en-US" sz="2400" dirty="0"/>
              <a:t> of programming logic </a:t>
            </a:r>
          </a:p>
          <a:p>
            <a:r>
              <a:rPr lang="en-US" sz="2400" b="1" dirty="0"/>
              <a:t>Maintainability:</a:t>
            </a:r>
            <a:r>
              <a:rPr lang="en-US" sz="2400" dirty="0"/>
              <a:t> </a:t>
            </a:r>
            <a:r>
              <a:rPr lang="en-US" sz="2400" dirty="0" err="1"/>
              <a:t>Chnage</a:t>
            </a:r>
            <a:r>
              <a:rPr lang="en-US" sz="2400" dirty="0"/>
              <a:t> logic at one place instead of multiple queries </a:t>
            </a:r>
          </a:p>
          <a:p>
            <a:r>
              <a:rPr lang="en-US" sz="2400" b="1" dirty="0"/>
              <a:t>Encapsulation: </a:t>
            </a:r>
            <a:r>
              <a:rPr lang="en-US" sz="2400" dirty="0"/>
              <a:t>Hide Complex business logic inside functions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800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sz="24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C1905-F944-5137-D67D-518744448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02-05-2026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F00C1-4707-07AD-E95A-CDBE7CE3D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Rithin Vishwas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7F157-507D-5320-C0A7-D7457A7D8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E002D-2833-47CC-AA7B-9E8F0BDD08F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919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58C2D-28CA-52C1-CBB6-6C0704C4A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Functions: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D8660-973B-7394-32C7-8F8EA9433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800" dirty="0"/>
              <a:t>System Functions </a:t>
            </a:r>
          </a:p>
          <a:p>
            <a:pPr lvl="1"/>
            <a:r>
              <a:rPr lang="en-US" sz="2800" dirty="0"/>
              <a:t>User Defined Functions 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800" dirty="0"/>
              <a:t>Scalar 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800" dirty="0"/>
              <a:t>Table valued functions (TVF)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800" dirty="0"/>
              <a:t>Multi-statement TVF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A6785-FE79-349C-DA5B-567C578FC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02-05-2026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DAB30-4AEE-E3D9-BC4F-69B96B2EB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Rithin Vishwas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FC8EF-8284-367C-AA0D-4FFA81B0B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E002D-2833-47CC-AA7B-9E8F0BDD08F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996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54AF0-00AF-A88E-287F-C67394E4F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System Functions (Built-in)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2F25E-7CAA-15F4-C989-7D9F3E3D2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4957763"/>
          </a:xfrm>
        </p:spPr>
        <p:txBody>
          <a:bodyPr>
            <a:noAutofit/>
          </a:bodyPr>
          <a:lstStyle/>
          <a:p>
            <a:r>
              <a:rPr lang="en-US" b="1" dirty="0"/>
              <a:t>1. String Functions : </a:t>
            </a:r>
            <a:r>
              <a:rPr lang="en-US" dirty="0"/>
              <a:t>UPPER, LEN </a:t>
            </a:r>
          </a:p>
          <a:p>
            <a:r>
              <a:rPr lang="en-US" b="1" dirty="0"/>
              <a:t>2. Numeric Functions:</a:t>
            </a:r>
            <a:r>
              <a:rPr lang="en-US" dirty="0"/>
              <a:t> ABS, ROUND</a:t>
            </a:r>
          </a:p>
          <a:p>
            <a:r>
              <a:rPr lang="en-US" b="1" dirty="0"/>
              <a:t>3. Date &amp; Time Functions: </a:t>
            </a:r>
            <a:r>
              <a:rPr lang="en-US" dirty="0"/>
              <a:t>GETDATE, YEAR</a:t>
            </a:r>
          </a:p>
          <a:p>
            <a:r>
              <a:rPr lang="en-US" b="1" dirty="0"/>
              <a:t>4. Aggregate Functions: </a:t>
            </a:r>
            <a:r>
              <a:rPr lang="en-US" dirty="0"/>
              <a:t>COUNT, AVG</a:t>
            </a:r>
          </a:p>
          <a:p>
            <a:r>
              <a:rPr lang="en-US" b="1" dirty="0"/>
              <a:t>5. Conversion Functions: </a:t>
            </a:r>
            <a:r>
              <a:rPr lang="en-US" dirty="0"/>
              <a:t>CAST, CONVERT</a:t>
            </a:r>
          </a:p>
          <a:p>
            <a:endParaRPr lang="en-IN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0F521-EDEB-9DD2-D911-477A4784E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02-05-2026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D50EC-BDC5-385E-BD34-E60DD6E44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Rithin Vishwas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B25B6-D799-5E17-D568-B61B10AAF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E002D-2833-47CC-AA7B-9E8F0BDD08F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399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1B45A-6EB5-45AF-7BED-331F18537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Scalar Function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0ADB960-B6CE-E737-887B-C4F006DE78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4333978"/>
              </p:ext>
            </p:extLst>
          </p:nvPr>
        </p:nvGraphicFramePr>
        <p:xfrm>
          <a:off x="0" y="2117835"/>
          <a:ext cx="121920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45161">
                  <a:extLst>
                    <a:ext uri="{9D8B030D-6E8A-4147-A177-3AD203B41FA5}">
                      <a16:colId xmlns:a16="http://schemas.microsoft.com/office/drawing/2014/main" val="3278824882"/>
                    </a:ext>
                  </a:extLst>
                </a:gridCol>
                <a:gridCol w="6046839">
                  <a:extLst>
                    <a:ext uri="{9D8B030D-6E8A-4147-A177-3AD203B41FA5}">
                      <a16:colId xmlns:a16="http://schemas.microsoft.com/office/drawing/2014/main" val="3059013655"/>
                    </a:ext>
                  </a:extLst>
                </a:gridCol>
              </a:tblGrid>
              <a:tr h="256232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Syntax: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CREATE FUNCTION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schema.FunctionName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(@param datatype)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RETURNS datatype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AS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BEGIN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  -- logic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  RETURN value;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END;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Example: Annual Salary</a:t>
                      </a:r>
                    </a:p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  <a:p>
                      <a:pPr rtl="0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CREATE FUNCTION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dbo.GetAnnualSalary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(@Salary INT)</a:t>
                      </a:r>
                      <a:br>
                        <a:rPr lang="en-US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RETURNS INT</a:t>
                      </a:r>
                      <a:br>
                        <a:rPr lang="en-US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AS</a:t>
                      </a:r>
                      <a:br>
                        <a:rPr lang="en-US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BEGIN</a:t>
                      </a:r>
                      <a:br>
                        <a:rPr lang="en-US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RETURN @Salary * 12;</a:t>
                      </a:r>
                      <a:br>
                        <a:rPr lang="en-US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END;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59064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C7813E9-D6E0-1E7B-7F9C-D161822794A3}"/>
              </a:ext>
            </a:extLst>
          </p:cNvPr>
          <p:cNvSpPr txBox="1"/>
          <p:nvPr/>
        </p:nvSpPr>
        <p:spPr>
          <a:xfrm>
            <a:off x="-39328" y="487648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Execution:</a:t>
            </a:r>
          </a:p>
          <a:p>
            <a:r>
              <a:rPr lang="en-US" dirty="0"/>
              <a:t>SELECT </a:t>
            </a:r>
            <a:r>
              <a:rPr lang="en-US" dirty="0" err="1"/>
              <a:t>EmpID</a:t>
            </a:r>
            <a:r>
              <a:rPr lang="en-US" dirty="0"/>
              <a:t>, FirstName, Salary,</a:t>
            </a:r>
            <a:br>
              <a:rPr lang="en-US" dirty="0"/>
            </a:br>
            <a:r>
              <a:rPr lang="en-US" dirty="0"/>
              <a:t>       </a:t>
            </a:r>
            <a:r>
              <a:rPr lang="en-US" dirty="0" err="1"/>
              <a:t>dbo.GetAnnualSalary</a:t>
            </a:r>
            <a:r>
              <a:rPr lang="en-US" dirty="0"/>
              <a:t>(Salary) AS </a:t>
            </a:r>
            <a:r>
              <a:rPr lang="en-US" dirty="0" err="1"/>
              <a:t>AnnualSalary</a:t>
            </a:r>
            <a:br>
              <a:rPr lang="en-US" dirty="0"/>
            </a:br>
            <a:r>
              <a:rPr lang="en-US" dirty="0"/>
              <a:t>FROM Employees;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4A5C4E-F46D-4995-D0C9-77D3E4400378}"/>
              </a:ext>
            </a:extLst>
          </p:cNvPr>
          <p:cNvSpPr txBox="1"/>
          <p:nvPr/>
        </p:nvSpPr>
        <p:spPr>
          <a:xfrm>
            <a:off x="216310" y="1506022"/>
            <a:ext cx="115823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Returns single value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C6E6B2-B1B2-1E36-3572-CE5EF1547717}"/>
              </a:ext>
            </a:extLst>
          </p:cNvPr>
          <p:cNvSpPr txBox="1"/>
          <p:nvPr/>
        </p:nvSpPr>
        <p:spPr>
          <a:xfrm>
            <a:off x="6872750" y="4826675"/>
            <a:ext cx="61353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Output </a:t>
            </a:r>
          </a:p>
          <a:p>
            <a:pPr>
              <a:buNone/>
            </a:pPr>
            <a:r>
              <a:rPr lang="en-US" dirty="0" err="1"/>
              <a:t>EmpID</a:t>
            </a:r>
            <a:r>
              <a:rPr lang="en-US" dirty="0"/>
              <a:t>     FirstName      Salary      </a:t>
            </a:r>
            <a:r>
              <a:rPr lang="en-US" dirty="0" err="1"/>
              <a:t>AnnualSalary</a:t>
            </a:r>
            <a:br>
              <a:rPr lang="en-US" dirty="0"/>
            </a:br>
            <a:r>
              <a:rPr lang="en-US" dirty="0"/>
              <a:t>-------------------------------------------------------------</a:t>
            </a:r>
            <a:br>
              <a:rPr lang="en-US" dirty="0"/>
            </a:br>
            <a:r>
              <a:rPr lang="en-US" dirty="0"/>
              <a:t>1               John              50000      600000</a:t>
            </a:r>
            <a:br>
              <a:rPr lang="en-US" dirty="0"/>
            </a:br>
            <a:r>
              <a:rPr lang="en-US" dirty="0"/>
              <a:t>2               Jane              60000      720000</a:t>
            </a:r>
            <a:br>
              <a:rPr lang="en-US" dirty="0"/>
            </a:br>
            <a:r>
              <a:rPr lang="en-US" dirty="0"/>
              <a:t>3               Amit             80000      960000</a:t>
            </a:r>
            <a:br>
              <a:rPr lang="en-US" dirty="0"/>
            </a:br>
            <a:r>
              <a:rPr lang="en-US" dirty="0"/>
              <a:t>4               Sara              75000      900000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1607EBD8-843B-C05D-4B16-36CF3EEBB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02-05-2026</a:t>
            </a:r>
            <a:endParaRPr lang="en-IN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D0DE34A-4A0E-8666-1710-18BAACCCE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Rithin Vishwas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FBC4313-6EE9-6D7B-044E-A7875BB94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E002D-2833-47CC-AA7B-9E8F0BDD08F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7864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44FFE-47D7-5CA0-EC6A-6375EE3E5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Table-Valued Function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DAAF4A1-6DC0-7FAE-F637-A6FF7A5944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7575680"/>
              </p:ext>
            </p:extLst>
          </p:nvPr>
        </p:nvGraphicFramePr>
        <p:xfrm>
          <a:off x="0" y="1688465"/>
          <a:ext cx="12192000" cy="36576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230879606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18242947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Syntax:</a:t>
                      </a:r>
                    </a:p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  <a:p>
                      <a:pPr rtl="0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CREATE FUNCTION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schema.FunctionName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(@parameter  datatype)</a:t>
                      </a:r>
                      <a:b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RETURNS TABLE</a:t>
                      </a:r>
                      <a:b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AS</a:t>
                      </a:r>
                      <a:b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RETURN</a:t>
                      </a:r>
                      <a:b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b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SELECT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column_name</a:t>
                      </a:r>
                      <a:b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FROM table</a:t>
                      </a:r>
                      <a:b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WHERE condition</a:t>
                      </a:r>
                      <a:b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Example: Employees with Salary &gt; Given Value</a:t>
                      </a:r>
                    </a:p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  <a:p>
                      <a:pPr rtl="0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CREATE FUNCTION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dbo.GetEmployeesBySalary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(@MinSalary INT)</a:t>
                      </a:r>
                      <a:b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RETURNS TABLE</a:t>
                      </a:r>
                      <a:b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AS</a:t>
                      </a:r>
                      <a:b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RETURN</a:t>
                      </a:r>
                      <a:b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b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SELECT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EmpID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FirstName, Salary</a:t>
                      </a:r>
                      <a:b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FROM Employees</a:t>
                      </a:r>
                      <a:b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WHERE Salary &gt; @MinSalary</a:t>
                      </a:r>
                      <a:b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7071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664C28C-3A7A-E129-BE00-452A9C896341}"/>
              </a:ext>
            </a:extLst>
          </p:cNvPr>
          <p:cNvSpPr txBox="1"/>
          <p:nvPr/>
        </p:nvSpPr>
        <p:spPr>
          <a:xfrm>
            <a:off x="137652" y="5447947"/>
            <a:ext cx="6096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Execution</a:t>
            </a:r>
          </a:p>
          <a:p>
            <a:r>
              <a:rPr lang="en-US" dirty="0"/>
              <a:t>SELECT * FROM </a:t>
            </a:r>
            <a:r>
              <a:rPr lang="en-US" dirty="0" err="1"/>
              <a:t>dbo.GetEmployeesBySalary</a:t>
            </a:r>
            <a:r>
              <a:rPr lang="en-US" dirty="0"/>
              <a:t>(60000);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4E6E9B-D526-A36E-2F39-5CC6ED61C96D}"/>
              </a:ext>
            </a:extLst>
          </p:cNvPr>
          <p:cNvSpPr txBox="1"/>
          <p:nvPr/>
        </p:nvSpPr>
        <p:spPr>
          <a:xfrm>
            <a:off x="7580672" y="5343842"/>
            <a:ext cx="60960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Output</a:t>
            </a:r>
          </a:p>
          <a:p>
            <a:r>
              <a:rPr lang="en-US" dirty="0" err="1"/>
              <a:t>EmpID</a:t>
            </a:r>
            <a:r>
              <a:rPr lang="en-US" dirty="0"/>
              <a:t>     FirstName    Salary</a:t>
            </a:r>
            <a:br>
              <a:rPr lang="en-US" dirty="0"/>
            </a:br>
            <a:r>
              <a:rPr lang="en-US" dirty="0"/>
              <a:t>---------------------------------------</a:t>
            </a:r>
            <a:br>
              <a:rPr lang="en-US" dirty="0"/>
            </a:br>
            <a:r>
              <a:rPr lang="en-US" dirty="0"/>
              <a:t>3               Amit             80000</a:t>
            </a:r>
            <a:br>
              <a:rPr lang="en-US" dirty="0"/>
            </a:br>
            <a:r>
              <a:rPr lang="en-US" dirty="0"/>
              <a:t>4               Sara              75000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46FDA764-5732-2814-951F-352FC5D3D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02-05-2026</a:t>
            </a:r>
            <a:endParaRPr lang="en-IN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57A3A50-CE96-6DC6-0222-AC047BF51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Rithin Vishwas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CBE4C18-D1C9-537D-8728-4BB62D3D1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E002D-2833-47CC-AA7B-9E8F0BDD08F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054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D641E-87B9-8605-F9C1-93A3D507E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 of Functions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EABAD-D629-4DAC-79CE-877A292B5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 are majorly used for preforming SELECT operations </a:t>
            </a:r>
          </a:p>
          <a:p>
            <a:r>
              <a:rPr lang="en-US" dirty="0"/>
              <a:t>Can’t perform </a:t>
            </a:r>
            <a:r>
              <a:rPr lang="en-US" b="1" dirty="0"/>
              <a:t>CRUD</a:t>
            </a:r>
            <a:r>
              <a:rPr lang="en-US" dirty="0"/>
              <a:t> operations with functions, but they can be used for 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Validating Data before insert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Calculating Values during INSERT/UPDATE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Filtering record during select</a:t>
            </a:r>
          </a:p>
          <a:p>
            <a:r>
              <a:rPr lang="en-US" dirty="0"/>
              <a:t>Transaction support is limited hence rollback and commit are not supported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8A605-2635-16BD-5CEF-5C8C2BFA0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02-05-2026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B7CFC-768C-3208-18B4-8C0D85405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Rithin Vishwas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52657-F146-2451-9504-9EB5B65CD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E002D-2833-47CC-AA7B-9E8F0BDD08F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472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3D4A8-9132-ECE7-E8A3-EB5665B75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Characteristics of Functions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AA6F3-CA0C-B086-35D7-F1C289EB3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Must return a value </a:t>
            </a:r>
          </a:p>
          <a:p>
            <a:r>
              <a:rPr lang="en-US" dirty="0"/>
              <a:t>Can be used in SELECT </a:t>
            </a:r>
          </a:p>
          <a:p>
            <a:r>
              <a:rPr lang="en-US" dirty="0"/>
              <a:t>Functions return values and cannot modify data.</a:t>
            </a:r>
          </a:p>
          <a:p>
            <a:r>
              <a:rPr lang="en-US">
                <a:solidFill>
                  <a:srgbClr val="C00000"/>
                </a:solidFill>
              </a:rPr>
              <a:t>Can not </a:t>
            </a:r>
            <a:r>
              <a:rPr lang="en-US" dirty="0">
                <a:solidFill>
                  <a:srgbClr val="C00000"/>
                </a:solidFill>
              </a:rPr>
              <a:t>use INSERT, UPDATE, DELETE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12527-5288-AF88-C18D-F8A0EFB42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02-05-2026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F4785-76BA-E3AD-ED5E-6C1BFE99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Rithin Vishwas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49D56-7B50-71FE-FF3B-1368DDD11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E002D-2833-47CC-AA7B-9E8F0BDD08F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5939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483</Words>
  <Application>Microsoft Office PowerPoint</Application>
  <PresentationFormat>Widescreen</PresentationFormat>
  <Paragraphs>95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  MS SQL Functions and Procedures   Wipro NGA  DAY - 15  </vt:lpstr>
      <vt:lpstr>FUNCTIONS </vt:lpstr>
      <vt:lpstr>Types of Functions:</vt:lpstr>
      <vt:lpstr>System Functions (Built-in) </vt:lpstr>
      <vt:lpstr>1. Scalar Function </vt:lpstr>
      <vt:lpstr>2. Table-Valued Function</vt:lpstr>
      <vt:lpstr>limitation of Functions :</vt:lpstr>
      <vt:lpstr>Key Characteristics of Functions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Rini  Vishwas</dc:creator>
  <cp:lastModifiedBy>Rini  Vishwas</cp:lastModifiedBy>
  <cp:revision>5</cp:revision>
  <dcterms:created xsi:type="dcterms:W3CDTF">2026-05-01T20:19:35Z</dcterms:created>
  <dcterms:modified xsi:type="dcterms:W3CDTF">2026-05-02T03:41:23Z</dcterms:modified>
</cp:coreProperties>
</file>